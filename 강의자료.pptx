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9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0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31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147" y="1754535"/>
            <a:ext cx="29277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KNU </a:t>
            </a:r>
            <a:r>
              <a:rPr lang="ko-KR" altLang="en-US" sz="105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고교 </a:t>
            </a:r>
            <a:r>
              <a:rPr lang="en-US" altLang="ko-KR" sz="105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AI </a:t>
            </a:r>
            <a:r>
              <a:rPr lang="ko-KR" altLang="en-US" sz="1050" dirty="0" err="1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프론티어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08147" y="2093565"/>
            <a:ext cx="292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입문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08147" y="2779365"/>
            <a:ext cx="2927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주</a:t>
            </a: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)</a:t>
            </a:r>
            <a:r>
              <a:rPr lang="ko-KR" altLang="en-US" sz="15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멜라카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en-US" sz="15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배용빈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기술이사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86250" y="3350865"/>
            <a:ext cx="571500" cy="381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머신러닝이란?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6042" y="1628031"/>
            <a:ext cx="84719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데이터에서 패턴을 찾아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6042" y="2024211"/>
            <a:ext cx="84719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학습하는 알고리즘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877592"/>
            <a:ext cx="3333750" cy="1399877"/>
          </a:xfrm>
          <a:prstGeom prst="roundRect">
            <a:avLst>
              <a:gd name="adj" fmla="val 81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14450" y="3144292"/>
            <a:ext cx="285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전통적 프로그래밍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4450" y="3445222"/>
            <a:ext cx="28563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+ 데이터 = 결과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14450" y="3799433"/>
            <a:ext cx="2856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개발자가 모든 규칙을 직접 작성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0" y="2877592"/>
            <a:ext cx="3333750" cy="1399877"/>
          </a:xfrm>
          <a:prstGeom prst="roundRect">
            <a:avLst>
              <a:gd name="adj" fmla="val 8165"/>
            </a:avLst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0" y="3163342"/>
            <a:ext cx="28174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48250" y="3464272"/>
            <a:ext cx="28174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+ 결과 = 규칙 발견!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48250" y="3818483"/>
            <a:ext cx="28174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컴퓨터가 데이터에서 규칙을 찾음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주변의 AI/ML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952500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143000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/ YouTube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459111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추천 시스템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72194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필터링 + 딥러닝으로 취향 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48200" y="952500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8700" y="1143000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스팸 필터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38700" y="1459111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스팸 메일 자동 분류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38700" y="172194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분류 모델로 99% 이상 차단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2224832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2415332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/ Apple Music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731443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추천 플레이리스트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299427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청취 패턴 + 오디오 분석으로 추천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2224832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8700" y="2415332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/ 지문인식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38700" y="2731443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생체 인증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299427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얼굴/지문 특징점을 학습해서 인식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9100" y="3497163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600" y="3687663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파파고 / Google 번역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4003774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번역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" y="4266605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기반 신경망 번역 모델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8200" y="3497163"/>
            <a:ext cx="4076700" cy="1119932"/>
          </a:xfrm>
          <a:prstGeom prst="roundRect">
            <a:avLst>
              <a:gd name="adj" fmla="val 102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8700" y="3687663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Claude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38700" y="4003774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38700" y="4266605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언어 모델 (LLM)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머신러닝의 종류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841302"/>
            <a:ext cx="2616250" cy="1350466"/>
          </a:xfrm>
          <a:prstGeom prst="roundRect">
            <a:avLst>
              <a:gd name="adj" fmla="val 84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860352"/>
            <a:ext cx="26162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7700" y="2108002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7700" y="2450902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47700" y="2776538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정답이 있는 데이터로 학습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3950" y="1841302"/>
            <a:ext cx="2616250" cy="1350466"/>
          </a:xfrm>
          <a:prstGeom prst="roundRect">
            <a:avLst>
              <a:gd name="adj" fmla="val 8464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63950" y="1860352"/>
            <a:ext cx="26162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92550" y="2108002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2550" y="2450902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492550" y="2776538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없이 패턴 발견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08799" y="1841302"/>
            <a:ext cx="2616250" cy="1350466"/>
          </a:xfrm>
          <a:prstGeom prst="roundRect">
            <a:avLst>
              <a:gd name="adj" fmla="val 8464"/>
            </a:avLst>
          </a:prstGeom>
          <a:solidFill>
            <a:srgbClr val="3D2A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08799" y="1860352"/>
            <a:ext cx="261625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37399" y="2108002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강화학습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37399" y="2450902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337399" y="2776538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보상을 통해 학습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9100" y="3572768"/>
            <a:ext cx="8305800" cy="491430"/>
          </a:xfrm>
          <a:prstGeom prst="roundRect">
            <a:avLst>
              <a:gd name="adj" fmla="val 155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" y="372516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실습: 지도학습 (타이타닉, MNIST) + 비지도학습 (고객 세분화)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vs 딥러닝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217712"/>
            <a:ext cx="4038600" cy="3470077"/>
          </a:xfrm>
          <a:prstGeom prst="roundRect">
            <a:avLst>
              <a:gd name="adj" fmla="val 32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236762"/>
            <a:ext cx="40386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09600" y="1446312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(ML)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865412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979712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특징을 알려줌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23900" y="2191048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사진에서 귀 모양, 코 길이를 봐"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2547193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2661493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데이터로 OK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23900" y="2872829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수천~수만 개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9600" y="3228975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3343275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학습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23900" y="3554611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컴퓨터로 몇 분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9600" y="3910757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" y="4025057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가능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23900" y="4236393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"성별이 가장 중요했어"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217712"/>
            <a:ext cx="4038600" cy="3470077"/>
          </a:xfrm>
          <a:prstGeom prst="roundRect">
            <a:avLst>
              <a:gd name="adj" fmla="val 3294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1236762"/>
            <a:ext cx="4038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76800" y="1446312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(DL)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76800" y="1865412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91100" y="1979712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특징을 찾음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91100" y="2191048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알아서 중요한 걸 찾을게"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547193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91100" y="2661493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대용량 데이터 필요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991100" y="2872829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수십만~수억 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76800" y="3228975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91100" y="3343275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필수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991100" y="3554611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학습에 몇 시간~며칠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910757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91100" y="4025057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블랙박스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991100" y="4236393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"왜인지는 모르지만 맞아"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76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vs 딥러닝: 어떻게 다를까?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007864"/>
            <a:ext cx="8305800" cy="1466701"/>
          </a:xfrm>
          <a:prstGeom prst="roundRect">
            <a:avLst>
              <a:gd name="adj" fmla="val 77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19836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머신러닝: 사람이 특징 추출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499295"/>
            <a:ext cx="831949" cy="784771"/>
          </a:xfrm>
          <a:prstGeom prst="roundRect">
            <a:avLst>
              <a:gd name="adj" fmla="val 971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7867" y="1613595"/>
            <a:ext cx="615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이미지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7867" y="1811685"/>
            <a:ext cx="6154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93949" y="17582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36849" y="1512689"/>
            <a:ext cx="1092250" cy="757982"/>
          </a:xfrm>
          <a:prstGeom prst="roundRect">
            <a:avLst>
              <a:gd name="adj" fmla="val 1005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42513" y="1626989"/>
            <a:ext cx="8809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특징 정의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42513" y="1825079"/>
            <a:ext cx="8809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 모양, 눈 크기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042513" y="2009775"/>
            <a:ext cx="8809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털 색깔, 코 위치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81499" y="17582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4399" y="1585913"/>
            <a:ext cx="857250" cy="611386"/>
          </a:xfrm>
          <a:prstGeom prst="roundRect">
            <a:avLst>
              <a:gd name="adj" fmla="val 1246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2412" y="1700213"/>
            <a:ext cx="6412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모델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2412" y="1898303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랜덤포레스트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34049" y="17582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76949" y="1697385"/>
            <a:ext cx="609600" cy="388590"/>
          </a:xfrm>
          <a:prstGeom prst="roundRect">
            <a:avLst>
              <a:gd name="adj" fmla="val 1960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87439" y="1811685"/>
            <a:ext cx="3886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고양이!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9100" y="2626965"/>
            <a:ext cx="8305800" cy="1466701"/>
          </a:xfrm>
          <a:prstGeom prst="roundRect">
            <a:avLst>
              <a:gd name="adj" fmla="val 77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9600" y="281746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딥러닝: 스스로 특징 학습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" y="3118396"/>
            <a:ext cx="831949" cy="784771"/>
          </a:xfrm>
          <a:prstGeom prst="roundRect">
            <a:avLst>
              <a:gd name="adj" fmla="val 971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7867" y="3232696"/>
            <a:ext cx="615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이미지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67" y="3430786"/>
            <a:ext cx="6154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93949" y="33773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36849" y="3145036"/>
            <a:ext cx="1905000" cy="731490"/>
          </a:xfrm>
          <a:prstGeom prst="roundRect">
            <a:avLst>
              <a:gd name="adj" fmla="val 1041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34385" y="3259336"/>
            <a:ext cx="17099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신경망이 알아서 학습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34385" y="3457426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층1: 선/엣지 → 층2: 패턴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34385" y="3628876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층3: 부위 → 층4: 전체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94249" y="33773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37149" y="3316486"/>
            <a:ext cx="609600" cy="388590"/>
          </a:xfrm>
          <a:prstGeom prst="roundRect">
            <a:avLst>
              <a:gd name="adj" fmla="val 1960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47639" y="3430786"/>
            <a:ext cx="3886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9100" y="4246066"/>
            <a:ext cx="8305800" cy="651421"/>
          </a:xfrm>
          <a:prstGeom prst="roundRect">
            <a:avLst>
              <a:gd name="adj" fmla="val 1169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38150" y="4246066"/>
            <a:ext cx="0" cy="65142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0550" y="437941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실습: 전통 ML (랜덤포레스트)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0550" y="460414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없이도 타이타닉 81%, MNIST 96% 달성 가능!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488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vs 딥러닝, 언제 뭘 쓸까?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362373"/>
            <a:ext cx="4038600" cy="3180755"/>
          </a:xfrm>
          <a:prstGeom prst="roundRect">
            <a:avLst>
              <a:gd name="adj" fmla="val 359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381423"/>
            <a:ext cx="40386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09600" y="1590973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83284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207853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2276624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엑셀, CSV, 데이터베이스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2594670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4850" y="2689920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850" y="288801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수천~수만 개면 충분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9600" y="3206055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3301305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가능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850" y="349939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그런 결과인지 설명 가능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9600" y="3817441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850" y="3912691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학습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850" y="4110782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없어도 OK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362373"/>
            <a:ext cx="4038600" cy="3180755"/>
          </a:xfrm>
          <a:prstGeom prst="roundRect">
            <a:avLst>
              <a:gd name="adj" fmla="val 3593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1381423"/>
            <a:ext cx="4038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76800" y="1590973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76800" y="1983284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72050" y="207853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데이터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72050" y="2276624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이미지, 음성, 텍스트, 영상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594670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2050" y="2689920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대용량 데이터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2050" y="288801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수십만~수억 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76800" y="3206055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2050" y="3301305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패턴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72050" y="349939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피처 추출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817441"/>
            <a:ext cx="3657600" cy="535186"/>
          </a:xfrm>
          <a:prstGeom prst="roundRect">
            <a:avLst>
              <a:gd name="adj" fmla="val 1423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72050" y="3912691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성능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2050" y="4110782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필수, 학습 오래 걸림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75792"/>
            <a:ext cx="4000500" cy="1234232"/>
          </a:xfrm>
          <a:prstGeom prst="roundRect">
            <a:avLst>
              <a:gd name="adj" fmla="val 926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804392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700" y="213196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선생님(정답)이 있는 학습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39479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입력(X)과 정답(y)을 함께 주고 학습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2962424"/>
            <a:ext cx="4000500" cy="1603474"/>
          </a:xfrm>
          <a:prstGeom prst="roundRect">
            <a:avLst>
              <a:gd name="adj" fmla="val 7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152924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453854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+ "고양이" 라벨 = 이미지 분류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703290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+ "스팸" 라벨 = 스팸 필터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95272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 정보 + 가격 = 가격 예측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4202162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승객 정보 + 생존 여부 = 타이타닉!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24400" y="1783259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가지 유형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2084189"/>
            <a:ext cx="4000500" cy="1079897"/>
          </a:xfrm>
          <a:prstGeom prst="roundRect">
            <a:avLst>
              <a:gd name="adj" fmla="val 105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3450" y="2084189"/>
            <a:ext cx="0" cy="1079897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53000" y="2274689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(Classification)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3000" y="2564160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예측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53000" y="2813596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스팸/정상, 생존/사망, 개/고양이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3278386"/>
            <a:ext cx="4000500" cy="1079897"/>
          </a:xfrm>
          <a:prstGeom prst="roundRect">
            <a:avLst>
              <a:gd name="adj" fmla="val 105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3450" y="3278386"/>
            <a:ext cx="0" cy="107989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53000" y="3468886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 (Regression)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3000" y="3758357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연속적인 숫자 예측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953000" y="4007793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집값, 주가, 온도, 매출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75792"/>
            <a:ext cx="4000500" cy="1234232"/>
          </a:xfrm>
          <a:prstGeom prst="roundRect">
            <a:avLst>
              <a:gd name="adj" fmla="val 926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804392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700" y="213196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없이 스스로 패턴 발견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39479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데이터의 숨겨진 구조를 찾아냄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2962424"/>
            <a:ext cx="4000500" cy="1603474"/>
          </a:xfrm>
          <a:prstGeom prst="roundRect">
            <a:avLst>
              <a:gd name="adj" fmla="val 7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152924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453854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데이터 = 고객 그룹 분류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703290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기사 = 토픽 발견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95272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거래 = 사기 탐지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4202162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 데이터 = 추천 시스템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24400" y="1783259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유형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2084189"/>
            <a:ext cx="4000500" cy="1079897"/>
          </a:xfrm>
          <a:prstGeom prst="roundRect">
            <a:avLst>
              <a:gd name="adj" fmla="val 105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3450" y="2084189"/>
            <a:ext cx="0" cy="107989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53000" y="2274689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군집화 (Clustering)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3000" y="2564160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것끼리 그룹으로 묶기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53000" y="2813596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K-Means, DBSCAN, 계층적 군집화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3278386"/>
            <a:ext cx="4000500" cy="1079897"/>
          </a:xfrm>
          <a:prstGeom prst="roundRect">
            <a:avLst>
              <a:gd name="adj" fmla="val 105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3450" y="3278386"/>
            <a:ext cx="0" cy="107989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53000" y="3468886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 축소 (Dimensionality Reduction)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3000" y="3758357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데이터를 단순하게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953000" y="4007793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PCA, t-SNE, UMAP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알고리즘 (1) 회귀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646039"/>
            <a:ext cx="4038600" cy="2849463"/>
          </a:xfrm>
          <a:prstGeom prst="roundRect">
            <a:avLst>
              <a:gd name="adj" fmla="val 40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665089"/>
            <a:ext cx="40386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912739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회귀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7700" y="2255639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47700" y="2581275"/>
            <a:ext cx="3581400" cy="727621"/>
          </a:xfrm>
          <a:prstGeom prst="roundRect">
            <a:avLst>
              <a:gd name="adj" fmla="val 1047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733675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ax + 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996505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 가장 잘 맞는 직선 찾기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700" y="3461296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예시: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7700" y="371073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공부 시간 vs 시험 점수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7700" y="390882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면적 vs 집값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700" y="410691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광고비 vs 매출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1646039"/>
            <a:ext cx="4038600" cy="2849463"/>
          </a:xfrm>
          <a:prstGeom prst="roundRect">
            <a:avLst>
              <a:gd name="adj" fmla="val 40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665089"/>
            <a:ext cx="40386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14900" y="1912739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로지스틱 회귀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4900" y="2255639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2581275"/>
            <a:ext cx="3581400" cy="727621"/>
          </a:xfrm>
          <a:prstGeom prst="roundRect">
            <a:avLst>
              <a:gd name="adj" fmla="val 1047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7300" y="2733675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P(y=1) = sigmoid(ax + b)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67300" y="2996505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0~1 사이 확률로 분류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4900" y="3461296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예시: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14900" y="371073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이메일이 스팸인지 (Yes/No)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4900" y="390882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환자가 질병이 있는지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4900" y="410691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이탈할지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원리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회귀: 최적의 선 찾기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46771"/>
            <a:ext cx="4998690" cy="30480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rasterized-svg-2e40cd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7271"/>
            <a:ext cx="4617690" cy="2667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09600" y="1544985"/>
            <a:ext cx="1178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공부 시간 vs 시험 점수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46390" y="1756618"/>
            <a:ext cx="3078510" cy="952351"/>
          </a:xfrm>
          <a:prstGeom prst="roundRect">
            <a:avLst>
              <a:gd name="adj" fmla="val 120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98790" y="1909018"/>
            <a:ext cx="28291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ax +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98790" y="2198489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기울기 (시간당 점수 증가)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98790" y="2396579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절편 (시작 점수)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46390" y="2823270"/>
            <a:ext cx="3078510" cy="874216"/>
          </a:xfrm>
          <a:prstGeom prst="roundRect">
            <a:avLst>
              <a:gd name="adj" fmla="val 130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98790" y="2975670"/>
            <a:ext cx="28291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798790" y="3225105"/>
            <a:ext cx="28291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점과 선 사이의 거리(오차)를 최소화하는 a, b를 찾음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46390" y="3811786"/>
            <a:ext cx="307851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660678" y="3811786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89265" y="3926086"/>
            <a:ext cx="2877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89265" y="4124176"/>
            <a:ext cx="2877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집값 예측, 매출 예측, 주가 예측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원리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로지스틱 회귀: 확률로 분류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46771"/>
            <a:ext cx="4998690" cy="30480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9481" y="1546771"/>
            <a:ext cx="1178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점수 vs 합격 확률</a:t>
            </a:r>
            <a:endParaRPr lang="en-US" sz="900" dirty="0"/>
          </a:p>
        </p:txBody>
      </p:sp>
      <p:pic>
        <p:nvPicPr>
          <p:cNvPr id="6" name="Image 0" descr="/tmp/rasterized-svg-ba2643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7271"/>
            <a:ext cx="4617690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46390" y="1750814"/>
            <a:ext cx="307851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98790" y="1903214"/>
            <a:ext cx="28291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시그모이드 함수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98790" y="2166045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0~1 사이로 압축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98790" y="2402235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이상 → 합격 (1)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98790" y="2562225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미만 → 불합격 (0)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46390" y="2988915"/>
            <a:ext cx="3078510" cy="714226"/>
          </a:xfrm>
          <a:prstGeom prst="roundRect">
            <a:avLst>
              <a:gd name="adj" fmla="val 160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98790" y="3141315"/>
            <a:ext cx="28291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98790" y="3390751"/>
            <a:ext cx="2829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회귀 결과를 S자 곡선으로 변환해서 확률로 해석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46390" y="3817441"/>
            <a:ext cx="307851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660678" y="3817441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789265" y="3931741"/>
            <a:ext cx="2877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89265" y="4129832"/>
            <a:ext cx="2877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스팸 필터, 질병 진단, 고객 이탈 예측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알고리즘 (2) 분류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646039"/>
            <a:ext cx="4038600" cy="2849463"/>
          </a:xfrm>
          <a:prstGeom prst="roundRect">
            <a:avLst>
              <a:gd name="adj" fmla="val 40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665089"/>
            <a:ext cx="4038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912739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7700" y="2255639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47700" y="2581275"/>
            <a:ext cx="3581400" cy="727621"/>
          </a:xfrm>
          <a:prstGeom prst="roundRect">
            <a:avLst>
              <a:gd name="adj" fmla="val 1047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733675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클래스 사이에 최적의 경계선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996505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마진(여백)을 최대화하는 선 찾기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700" y="3461296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7700" y="371073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고차원 데이터에 효과적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7700" y="390882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효율적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700" y="410691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분류에 많이 사용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1646039"/>
            <a:ext cx="4038600" cy="2849463"/>
          </a:xfrm>
          <a:prstGeom prst="roundRect">
            <a:avLst>
              <a:gd name="adj" fmla="val 40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665089"/>
            <a:ext cx="40386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14900" y="1912739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포레스트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4900" y="2255639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2581275"/>
            <a:ext cx="3581400" cy="727621"/>
          </a:xfrm>
          <a:prstGeom prst="roundRect">
            <a:avLst>
              <a:gd name="adj" fmla="val 1047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7300" y="2733675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결정 트리의 다수결 투표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67300" y="2996505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100개 나무가 투표해서 결정!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4900" y="3461296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14900" y="371073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과적합에 강함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4900" y="390882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피처 중요도 제공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4900" y="4106912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실습에서 사용!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원리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트리: 스무고개 게임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892647"/>
            <a:ext cx="5383560" cy="2356247"/>
          </a:xfrm>
          <a:prstGeom prst="roundRect">
            <a:avLst>
              <a:gd name="adj" fmla="val 485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83147"/>
            <a:ext cx="51026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생존 예측 트리 예시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83805" y="2357438"/>
            <a:ext cx="1054150" cy="350490"/>
          </a:xfrm>
          <a:prstGeom prst="roundRect">
            <a:avLst>
              <a:gd name="adj" fmla="val 2174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67574" y="2452688"/>
            <a:ext cx="686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성별이 여자?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65113" y="2784128"/>
            <a:ext cx="237917" cy="12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941165" y="2968823"/>
            <a:ext cx="19050" cy="190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72208" y="3159323"/>
            <a:ext cx="956965" cy="298996"/>
          </a:xfrm>
          <a:prstGeom prst="roundRect">
            <a:avLst>
              <a:gd name="adj" fmla="val 2548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18086" y="3235523"/>
            <a:ext cx="6652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객실 1,2등급?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411932" y="3534519"/>
            <a:ext cx="2163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80096" y="3667869"/>
            <a:ext cx="19050" cy="14287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71575" y="3810744"/>
            <a:ext cx="636240" cy="247650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85875" y="3867894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 97%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50740" y="3534519"/>
            <a:ext cx="124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02086" y="3667869"/>
            <a:ext cx="19050" cy="142875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93565" y="3810744"/>
            <a:ext cx="636240" cy="247650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07865" y="3867894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 50%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03948" y="2784128"/>
            <a:ext cx="1366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261396" y="2968823"/>
            <a:ext cx="19050" cy="1905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0051" y="3159323"/>
            <a:ext cx="1061740" cy="298996"/>
          </a:xfrm>
          <a:prstGeom prst="roundRect">
            <a:avLst>
              <a:gd name="adj" fmla="val 2548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4881" y="3235523"/>
            <a:ext cx="772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10세 이하?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732163" y="3534519"/>
            <a:ext cx="2163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00326" y="3667869"/>
            <a:ext cx="19050" cy="14287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91805" y="3810744"/>
            <a:ext cx="636240" cy="247650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06105" y="3867894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 60%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70971" y="3534519"/>
            <a:ext cx="124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22316" y="3667869"/>
            <a:ext cx="19050" cy="142875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13796" y="3810744"/>
            <a:ext cx="636240" cy="247650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28096" y="3867894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사망 80%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31260" y="1769864"/>
            <a:ext cx="2693640" cy="887611"/>
          </a:xfrm>
          <a:prstGeom prst="roundRect">
            <a:avLst>
              <a:gd name="adj" fmla="val 1287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83660" y="1922264"/>
            <a:ext cx="24366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83660" y="2185095"/>
            <a:ext cx="24366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가장 잘 나누는 질문을 찾아서 계속 분류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1260" y="2771775"/>
            <a:ext cx="2693640" cy="912316"/>
          </a:xfrm>
          <a:prstGeom prst="roundRect">
            <a:avLst>
              <a:gd name="adj" fmla="val 12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83660" y="2924175"/>
            <a:ext cx="24366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183660" y="3173611"/>
            <a:ext cx="24366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해석이 쉬움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3660" y="3371701"/>
            <a:ext cx="24366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그렇게 예측했는지" 설명 가능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1260" y="3798391"/>
            <a:ext cx="269364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45547" y="3798391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174135" y="3912691"/>
            <a:ext cx="2485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4135" y="4110782"/>
            <a:ext cx="24851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 위험 → 랜덤포레스트로 해결!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원리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포레스트: 다수결 투표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393627"/>
            <a:ext cx="8305800" cy="2053530"/>
          </a:xfrm>
          <a:prstGeom prst="roundRect">
            <a:avLst>
              <a:gd name="adj" fmla="val 556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584127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100개의 결정 트리가 투표!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00126" y="192315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9661" y="201840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9661" y="232320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00126" y="262800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9661" y="272325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9661" y="302805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사망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14526" y="192315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4061" y="201840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4061" y="232320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14526" y="262800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04061" y="272325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4061" y="302805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28926" y="192315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18461" y="201840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8461" y="232320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8926" y="2628007"/>
            <a:ext cx="7620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18461" y="272325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8461" y="302805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사망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43326" y="2361307"/>
            <a:ext cx="444698" cy="457200"/>
          </a:xfrm>
          <a:prstGeom prst="roundRect">
            <a:avLst>
              <a:gd name="adj" fmla="val 17135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36034" y="2456557"/>
            <a:ext cx="2592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36034" y="2589907"/>
            <a:ext cx="2592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100개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40425" y="242991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21425" y="1997571"/>
            <a:ext cx="1022300" cy="1184672"/>
          </a:xfrm>
          <a:prstGeom prst="roundRect">
            <a:avLst>
              <a:gd name="adj" fmla="val 111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66650" y="2149971"/>
            <a:ext cx="731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결과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6650" y="2348061"/>
            <a:ext cx="73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생존: 68표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066650" y="2494657"/>
            <a:ext cx="73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사망: 32표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073825" y="2717453"/>
            <a:ext cx="717500" cy="312390"/>
          </a:xfrm>
          <a:prstGeom prst="roundRect">
            <a:avLst>
              <a:gd name="adj" fmla="val 182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44374" y="2793653"/>
            <a:ext cx="576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최종: 생존!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9100" y="3599557"/>
            <a:ext cx="2667000" cy="1148507"/>
          </a:xfrm>
          <a:prstGeom prst="roundRect">
            <a:avLst>
              <a:gd name="adj" fmla="val 99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500" y="3751957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"랜덤"인가?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1500" y="4014788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랜덤 데이터 샘플링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" y="4212878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랜덤 피처 선택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1500" y="4449068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각 트리가 서로 다른 관점으로 학습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238500" y="3611910"/>
            <a:ext cx="266700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390900" y="3764310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90900" y="4027140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과적합에 강함 (여러 트리가 보완)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0900" y="4225230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피처 중요도 제공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90900" y="4423321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안정적인 성능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57900" y="3717578"/>
            <a:ext cx="2667000" cy="912316"/>
          </a:xfrm>
          <a:prstGeom prst="roundRect">
            <a:avLst>
              <a:gd name="adj" fmla="val 12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10300" y="3869978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실습에서 사용!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0300" y="4132808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n_estimators=100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0300" y="4330898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100개 트리가 투표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알고리즘 (3) 군집화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283345"/>
            <a:ext cx="4229100" cy="3574852"/>
          </a:xfrm>
          <a:prstGeom prst="roundRect">
            <a:avLst>
              <a:gd name="adj" fmla="val 31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302395"/>
            <a:ext cx="42291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550045"/>
            <a:ext cx="38473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7700" y="1919585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유명한 군집화 알고리즘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296716"/>
            <a:ext cx="3771900" cy="1374874"/>
          </a:xfrm>
          <a:prstGeom prst="roundRect">
            <a:avLst>
              <a:gd name="adj" fmla="val 554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449116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원리: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71194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K개의 중심점을 랜덤 배치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92328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각 점을 가장 가까운 중심에 할당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134618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중심점을 그룹의 평균으로 이동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345954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2-3 반복 (수렴할 때까지)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47700" y="382399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예시: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47700" y="4073426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세분화 (VIP, 일반, 휴면)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7700" y="4271516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색상 압축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7700" y="4469606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주제 분류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3000" y="1567755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시각화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0" y="1906786"/>
            <a:ext cx="3771900" cy="2667000"/>
          </a:xfrm>
          <a:prstGeom prst="roundRect">
            <a:avLst>
              <a:gd name="adj" fmla="val 428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254689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38800" y="287074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07330" y="3385096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57950" y="254689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81800" y="287074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50330" y="3385096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0950" y="254689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24800" y="287074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93330" y="3385096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24389" y="3773686"/>
            <a:ext cx="20697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K=3일 때 데이터가 3개 그룹으로 분류됨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원리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K-Means: 반복해서 중심 찾기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848892"/>
            <a:ext cx="1905000" cy="1512540"/>
          </a:xfrm>
          <a:prstGeom prst="roundRect">
            <a:avLst>
              <a:gd name="adj" fmla="val 755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798" y="2001292"/>
            <a:ext cx="16322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랜덤 중심점</a:t>
            </a:r>
            <a:endParaRPr lang="en-US" sz="900" dirty="0"/>
          </a:p>
        </p:txBody>
      </p:sp>
      <p:pic>
        <p:nvPicPr>
          <p:cNvPr id="6" name="Image 0" descr="/tmp/rasterized-svg-f43a38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37482"/>
            <a:ext cx="1600200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9798" y="3037582"/>
            <a:ext cx="1632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중심점 랜덤 배치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590800" y="1848892"/>
            <a:ext cx="1905000" cy="1512540"/>
          </a:xfrm>
          <a:prstGeom prst="roundRect">
            <a:avLst>
              <a:gd name="adj" fmla="val 755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27198" y="2001292"/>
            <a:ext cx="16322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가까운 곳에 할당</a:t>
            </a:r>
            <a:endParaRPr lang="en-US" sz="900" dirty="0"/>
          </a:p>
        </p:txBody>
      </p:sp>
      <p:pic>
        <p:nvPicPr>
          <p:cNvPr id="10" name="Image 1" descr="/tmp/rasterized-svg-2a3ac5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237482"/>
            <a:ext cx="1600200" cy="76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27198" y="3037582"/>
            <a:ext cx="1632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점을 가까운 중심에 배정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648200" y="1848892"/>
            <a:ext cx="1905000" cy="1512540"/>
          </a:xfrm>
          <a:prstGeom prst="roundRect">
            <a:avLst>
              <a:gd name="adj" fmla="val 755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84598" y="2001292"/>
            <a:ext cx="16322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중심점 이동</a:t>
            </a:r>
            <a:endParaRPr lang="en-US" sz="900" dirty="0"/>
          </a:p>
        </p:txBody>
      </p:sp>
      <p:pic>
        <p:nvPicPr>
          <p:cNvPr id="14" name="Image 2" descr="/tmp/rasterized-svg-56e4d2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37482"/>
            <a:ext cx="1600200" cy="762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84598" y="3037582"/>
            <a:ext cx="1632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평균으로 중심 이동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6705600" y="1848892"/>
            <a:ext cx="1905000" cy="1512540"/>
          </a:xfrm>
          <a:prstGeom prst="roundRect">
            <a:avLst>
              <a:gd name="adj" fmla="val 7557"/>
            </a:avLst>
          </a:prstGeom>
          <a:solidFill>
            <a:srgbClr val="1A3D3D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861429" y="2020342"/>
            <a:ext cx="1593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수렴!</a:t>
            </a:r>
            <a:endParaRPr lang="en-US" sz="900" dirty="0"/>
          </a:p>
        </p:txBody>
      </p:sp>
      <p:pic>
        <p:nvPicPr>
          <p:cNvPr id="18" name="Image 3" descr="/tmp/rasterized-svg-0319cf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050" y="2256532"/>
            <a:ext cx="1562100" cy="762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61429" y="3056632"/>
            <a:ext cx="15933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이상 변화 없음 → 완료!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419100" y="3475732"/>
            <a:ext cx="2667000" cy="817066"/>
          </a:xfrm>
          <a:prstGeom prst="roundRect">
            <a:avLst>
              <a:gd name="adj" fmla="val 1398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52450" y="3609082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원리</a:t>
            </a:r>
            <a:endParaRPr lang="en-US" sz="975" dirty="0"/>
          </a:p>
        </p:txBody>
      </p:sp>
      <p:sp>
        <p:nvSpPr>
          <p:cNvPr id="22" name="Text 16"/>
          <p:cNvSpPr/>
          <p:nvPr/>
        </p:nvSpPr>
        <p:spPr>
          <a:xfrm>
            <a:off x="552450" y="3839468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"중심점 배치 → 할당 → 이동"을 반복하면 자연스럽게 그룹이 형성됨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238500" y="3475732"/>
            <a:ext cx="2667000" cy="817066"/>
          </a:xfrm>
          <a:prstGeom prst="roundRect">
            <a:avLst>
              <a:gd name="adj" fmla="val 1398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71850" y="3609082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K는 직접 정해야!</a:t>
            </a:r>
            <a:endParaRPr lang="en-US" sz="975" dirty="0"/>
          </a:p>
        </p:txBody>
      </p:sp>
      <p:sp>
        <p:nvSpPr>
          <p:cNvPr id="25" name="Text 19"/>
          <p:cNvSpPr/>
          <p:nvPr/>
        </p:nvSpPr>
        <p:spPr>
          <a:xfrm>
            <a:off x="3371850" y="3839468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개 그룹으로 나눌까?" → 엘보우 방법으로 최적 K 찾기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057900" y="3555653"/>
            <a:ext cx="2667000" cy="657076"/>
          </a:xfrm>
          <a:prstGeom prst="roundRect">
            <a:avLst>
              <a:gd name="adj" fmla="val 173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191250" y="3689003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6191250" y="3919389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정답(y) 없이 X만으로 패턴 발견!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워크플로우</a:t>
            </a:r>
            <a:endParaRPr lang="en-US" sz="2700" dirty="0"/>
          </a:p>
        </p:txBody>
      </p:sp>
      <p:pic>
        <p:nvPicPr>
          <p:cNvPr id="3" name="Image 0" descr="/tmp/rasterized-gradient-763ed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019300"/>
            <a:ext cx="1488430" cy="643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802" y="2247900"/>
            <a:ext cx="1285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데이터 수집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04216" y="2777430"/>
            <a:ext cx="1518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DB, API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983730" y="2338239"/>
            <a:ext cx="64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500" dirty="0"/>
          </a:p>
        </p:txBody>
      </p:sp>
      <p:pic>
        <p:nvPicPr>
          <p:cNvPr id="7" name="Image 1" descr="/tmp/rasterized-gradient-f376f6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480" y="2019300"/>
            <a:ext cx="1488430" cy="6438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25181" y="2247900"/>
            <a:ext cx="1285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전처리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108595" y="2777430"/>
            <a:ext cx="1518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결측치, 정규화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3688110" y="2338239"/>
            <a:ext cx="64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500" dirty="0"/>
          </a:p>
        </p:txBody>
      </p:sp>
      <p:pic>
        <p:nvPicPr>
          <p:cNvPr id="11" name="Image 2" descr="/tmp/rasterized-gradient-28a3ba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859" y="2019300"/>
            <a:ext cx="1488430" cy="6438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29561" y="2247900"/>
            <a:ext cx="1285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Train/Test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812975" y="2777430"/>
            <a:ext cx="1518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20%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5392489" y="2338239"/>
            <a:ext cx="64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500" dirty="0"/>
          </a:p>
        </p:txBody>
      </p:sp>
      <p:pic>
        <p:nvPicPr>
          <p:cNvPr id="15" name="Image 3" descr="/tmp/rasterized-gradient-7af49b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239" y="2019300"/>
            <a:ext cx="1488430" cy="6438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33941" y="2247900"/>
            <a:ext cx="1285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모델 학습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517355" y="2777430"/>
            <a:ext cx="1518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fit(X, y)</a:t>
            </a:r>
            <a:endParaRPr lang="en-US" sz="825" dirty="0"/>
          </a:p>
        </p:txBody>
      </p:sp>
      <p:sp>
        <p:nvSpPr>
          <p:cNvPr id="18" name="Text 12"/>
          <p:cNvSpPr/>
          <p:nvPr/>
        </p:nvSpPr>
        <p:spPr>
          <a:xfrm>
            <a:off x="7096869" y="2338239"/>
            <a:ext cx="64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500" dirty="0"/>
          </a:p>
        </p:txBody>
      </p:sp>
      <p:pic>
        <p:nvPicPr>
          <p:cNvPr id="19" name="Image 4" descr="/tmp/rasterized-gradient-2749f98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619" y="2019300"/>
            <a:ext cx="1488430" cy="6438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38320" y="2247900"/>
            <a:ext cx="1285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평가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221734" y="2777430"/>
            <a:ext cx="1518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정확도, F1</a:t>
            </a:r>
            <a:endParaRPr lang="en-US" sz="825" dirty="0"/>
          </a:p>
        </p:txBody>
      </p:sp>
      <p:sp>
        <p:nvSpPr>
          <p:cNvPr id="22" name="Text 15"/>
          <p:cNvSpPr/>
          <p:nvPr/>
        </p:nvSpPr>
        <p:spPr>
          <a:xfrm>
            <a:off x="419100" y="3381226"/>
            <a:ext cx="830580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569214" y="3533626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</a:t>
            </a:r>
            <a:r>
              <a:rPr lang="en-US" sz="11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학습 데이터로 패턴을 배우고, 처음 보는 테스트 데이터로 성능을 검증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시작하기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549003"/>
            <a:ext cx="4000500" cy="1881783"/>
          </a:xfrm>
          <a:prstGeom prst="roundRect">
            <a:avLst>
              <a:gd name="adj" fmla="val 60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1777603"/>
            <a:ext cx="36141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Colab인가?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7700" y="2169914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설치 필요 없음 - 브라우저만 OK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245179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무료 GPU 제공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73367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주요 라이브러리 사전 설치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301555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구글 드라이브 연동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100" y="3583186"/>
            <a:ext cx="4000500" cy="773311"/>
          </a:xfrm>
          <a:prstGeom prst="roundRect">
            <a:avLst>
              <a:gd name="adj" fmla="val 985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1025" y="3745111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주소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81025" y="3994547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colab.research.google.com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24400" y="1297484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방법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1636514"/>
            <a:ext cx="4000500" cy="914251"/>
          </a:xfrm>
          <a:prstGeom prst="roundRect">
            <a:avLst>
              <a:gd name="adj" fmla="val 833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800" y="1788914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76800" y="2013645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계정으로 로그인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6800" y="2238375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계정도 사용 가능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2665065"/>
            <a:ext cx="4000500" cy="914251"/>
          </a:xfrm>
          <a:prstGeom prst="roundRect">
            <a:avLst>
              <a:gd name="adj" fmla="val 833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6800" y="2817465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6800" y="3042196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노트북 만들기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3266926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- 새 노트북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4400" y="3693616"/>
            <a:ext cx="4000500" cy="914251"/>
          </a:xfrm>
          <a:prstGeom prst="roundRect">
            <a:avLst>
              <a:gd name="adj" fmla="val 833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6800" y="3846016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6800" y="4070747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셀에 코드 입력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76800" y="4295477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Enter로 실행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1 - 지도학습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생존 예측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360587"/>
            <a:ext cx="4000500" cy="1260872"/>
          </a:xfrm>
          <a:prstGeom prst="roundRect">
            <a:avLst>
              <a:gd name="adj" fmla="val 90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589187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700" y="1916757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승객 정보(나이, 성별, 객실 등급 등)를 바탕으로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179588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 여부를 예측하는 모델 만들기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" y="2773859"/>
            <a:ext cx="4000500" cy="2007096"/>
          </a:xfrm>
          <a:prstGeom prst="roundRect">
            <a:avLst>
              <a:gd name="adj" fmla="val 56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964359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사용할 피처 (Feature)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265289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Pclass - 객실등급 (1, 2, 3등석)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495675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 - 성별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726061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- 나이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956447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SibSp - 형제/배우자 수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4186833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 - 부모/자녀 수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4417219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- 요금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1736675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예시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4400" y="2037606"/>
            <a:ext cx="4000500" cy="1576834"/>
          </a:xfrm>
          <a:prstGeom prst="roundRect">
            <a:avLst>
              <a:gd name="adj" fmla="val 7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2228106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Survived | Pclass | Sex | 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4900" y="250239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(사망) | 3 | male | 22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14900" y="2751832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(생존) | 1 | female | 38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914900" y="3001268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(생존) | 3 | female | 26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14900" y="3250704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(사망) | 1 | male | 35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24400" y="3766840"/>
            <a:ext cx="4000500" cy="638026"/>
          </a:xfrm>
          <a:prstGeom prst="roundRect">
            <a:avLst>
              <a:gd name="adj" fmla="val 1194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38688" y="3766840"/>
            <a:ext cx="0" cy="63802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86325" y="3900190"/>
            <a:ext cx="377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86325" y="4111526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"여성과 어린이 먼저" - 실제로 성별과 나이가 생존에 큰 영향!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0: 한글 폰트 설정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194048"/>
            <a:ext cx="8305800" cy="2925068"/>
          </a:xfrm>
          <a:prstGeom prst="roundRect">
            <a:avLst>
              <a:gd name="adj" fmla="val 39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38454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Colab에서 한글 그래프를 위한 폰트 설치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658838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!apt-get install -y fonts-nanum &gt; /dev/null 2&gt;&amp;1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1984474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matplotlib.pyplot as plt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214860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matplotlib.font_manager as fm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502396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나눔고딕 폰트 설정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776686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font_path = '/usr/share/fonts/truetype/nanum/NanumGothic.ttf'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007072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fm.fontManager.addfont(font_path)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237458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plt.rcParams['font.family'] = 'NanumGothic'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467844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plt.rcParams['axes.unicode_minus'] = False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3755380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print("한글 폰트 설정 완료!")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19100" y="4271516"/>
            <a:ext cx="8305800" cy="638026"/>
          </a:xfrm>
          <a:prstGeom prst="roundRect">
            <a:avLst>
              <a:gd name="adj" fmla="val 1194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3388" y="4271516"/>
            <a:ext cx="0" cy="63802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1025" y="4404866"/>
            <a:ext cx="81707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중요!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81025" y="4616202"/>
            <a:ext cx="8170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셀을 맨 처음에 한 번 실행해야 그래프에 한글이 제대로 표시됩니다.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라이브러리 불러오기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2122438"/>
            <a:ext cx="4846290" cy="1858566"/>
          </a:xfrm>
          <a:prstGeom prst="roundRect">
            <a:avLst>
              <a:gd name="adj" fmla="val 615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312938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pandas as pd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2543324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numpy as np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2868960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sklearn.model_selection import train_test_split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3099346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sklearn.ensemble import RandomForestClassifier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3329732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sklearn.metrics import accuracy_score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3617268"/>
            <a:ext cx="4554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print("라이브러리 로드 완료!")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493990" y="1465213"/>
            <a:ext cx="32955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라이브러리 역할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493990" y="1752749"/>
            <a:ext cx="3230910" cy="516136"/>
          </a:xfrm>
          <a:prstGeom prst="roundRect">
            <a:avLst>
              <a:gd name="adj" fmla="val 147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508278" y="1752749"/>
            <a:ext cx="0" cy="51613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17815" y="1847999"/>
            <a:ext cx="3072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17815" y="2027039"/>
            <a:ext cx="3072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불러오기, 가공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493990" y="2345085"/>
            <a:ext cx="3230910" cy="516136"/>
          </a:xfrm>
          <a:prstGeom prst="roundRect">
            <a:avLst>
              <a:gd name="adj" fmla="val 147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08278" y="2345085"/>
            <a:ext cx="0" cy="51613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17815" y="2440335"/>
            <a:ext cx="3072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17815" y="2619375"/>
            <a:ext cx="3072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 연산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493990" y="2937421"/>
            <a:ext cx="3230910" cy="516136"/>
          </a:xfrm>
          <a:prstGeom prst="roundRect">
            <a:avLst>
              <a:gd name="adj" fmla="val 147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08278" y="2937421"/>
            <a:ext cx="0" cy="51613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17815" y="3032671"/>
            <a:ext cx="3072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train_test_split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17815" y="3211711"/>
            <a:ext cx="3072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분리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493990" y="3529757"/>
            <a:ext cx="3230910" cy="516136"/>
          </a:xfrm>
          <a:prstGeom prst="roundRect">
            <a:avLst>
              <a:gd name="adj" fmla="val 147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08278" y="3529757"/>
            <a:ext cx="0" cy="51613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617815" y="3625007"/>
            <a:ext cx="3072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17815" y="3804047"/>
            <a:ext cx="3072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랜덤포레스트 모델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493990" y="4122093"/>
            <a:ext cx="3230910" cy="516136"/>
          </a:xfrm>
          <a:prstGeom prst="roundRect">
            <a:avLst>
              <a:gd name="adj" fmla="val 147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508278" y="4122093"/>
            <a:ext cx="0" cy="51613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17815" y="4217343"/>
            <a:ext cx="3072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7815" y="4396383"/>
            <a:ext cx="3072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계산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데이터 불러오기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451074"/>
            <a:ext cx="8305800" cy="1462534"/>
          </a:xfrm>
          <a:prstGeom prst="roundRect">
            <a:avLst>
              <a:gd name="adj" fmla="val 78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603474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인터넷에서 타이타닉 데이터 다운로드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83966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= 'https://raw.githubusercontent.com/datasciencedojo/datasets/master/titanic.csv'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07005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= pd.read_csv(url)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35758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print(f"데이터 크기: {df.shape[0]}명, {df.shape[1]}개 컬럼")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58797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df.head()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3027908"/>
            <a:ext cx="8305800" cy="937022"/>
          </a:xfrm>
          <a:prstGeom prst="roundRect">
            <a:avLst>
              <a:gd name="adj" fmla="val 1219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180308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예상 출력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41649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크기: 891명, 12개 컬럼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71500" y="3665934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PassengerId  Survived  Pclass  Name  Sex  Age  SibSp  Parch  Ticket  Fare  Cabin  Embarked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19100" y="407923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3388" y="4079230"/>
            <a:ext cx="0" cy="57328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1975" y="419353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pd.read_csv(url)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1975" y="439162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URL에서 CSV 파일을 읽어서 DataFrame으로 변환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238500" y="407923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52788" y="4079230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381375" y="419353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df.head()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1375" y="439162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데이터의 처음 5행을 미리보기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57900" y="407923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72188" y="4079230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00775" y="419353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df.shape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0775" y="439162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(행 개수, 열 개수) 튜플 반환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데이터 전처리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224409"/>
            <a:ext cx="8305800" cy="2279600"/>
          </a:xfrm>
          <a:prstGeom prst="roundRect">
            <a:avLst>
              <a:gd name="adj" fmla="val 50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76809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1. 사용할 컬럼만 선택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61299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= ['Pclass', 'Sex', 'Age', 'SibSp', 'Parch', 'Fare']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84338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df_clean = df[features + ['Survived']].copy()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130921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2. 결측치(빈 값) 제거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2367111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df_clean = df_clean.dropna()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265464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3. 성별을 숫자로 변환 (ML은 숫자만 이해!)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289083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df_clean['Sex'] = df_clean['Sex'].map({'male': 0, 'female': 1})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1500" y="3178373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print(f"전처리 후: {len(df_clean)}명")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3618309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388" y="3618309"/>
            <a:ext cx="0" cy="57328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1975" y="3732609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dropna()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1975" y="393070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결측치(NaN)가 있는 행 제거. 891명 - 714명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238500" y="3618309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52788" y="3618309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81375" y="3732609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1375" y="393070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male=0, female=1로 변환. ML은 문자 못 읽음!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57900" y="3618309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72188" y="3618309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00775" y="3732609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0775" y="393070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보존을 위해 복사본 생성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19100" y="4305895"/>
            <a:ext cx="830580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33388" y="4305895"/>
            <a:ext cx="0" cy="57328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1975" y="4420195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전처리가 필요할까?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1975" y="4618286"/>
            <a:ext cx="8209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모델은 빈 값(NaN)을 처리 못함 + 문자(male/female)도 못 읽음. 숫자로 바꿔줘야!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Train/Test 분리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127224"/>
            <a:ext cx="8305800" cy="1755874"/>
          </a:xfrm>
          <a:prstGeom prst="roundRect">
            <a:avLst>
              <a:gd name="adj" fmla="val 65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279624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피처(X)와 타겟(y) 분리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51581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df_clean[features]      # 입력: 승객 정보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74620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df_clean['Survived']    # 정답: 생존 여부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03373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80% 학습용, 20% 테스트용으로 분리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2269927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X_train, X_test, y_train, y_test = train_test_split(X, y, test_size=0.2, random_state=42)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2557463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print(f"학습: {len(X_train)}명, 테스트: {len(X_test)}명")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19100" y="3016448"/>
            <a:ext cx="4038600" cy="1253282"/>
          </a:xfrm>
          <a:prstGeom prst="roundRect">
            <a:avLst>
              <a:gd name="adj" fmla="val 912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3024" y="3206948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 (80%)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3024" y="3469779"/>
            <a:ext cx="373075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571명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3024" y="3919240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패턴을 배우는 데이터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3016448"/>
            <a:ext cx="4038600" cy="1253282"/>
          </a:xfrm>
          <a:prstGeom prst="roundRect">
            <a:avLst>
              <a:gd name="adj" fmla="val 9120"/>
            </a:avLst>
          </a:prstGeom>
          <a:solidFill>
            <a:srgbClr val="3D2A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0224" y="3206948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데이터 (20%)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0224" y="3469779"/>
            <a:ext cx="373075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143명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40224" y="3919240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성능을 평가하는 데이터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9100" y="4403080"/>
            <a:ext cx="830580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388" y="4403080"/>
            <a:ext cx="0" cy="57328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1975" y="4517380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분리할까?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1975" y="4715470"/>
            <a:ext cx="8209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전에 답을 외우면 안 되니까! 모델이 처음 보는 데이터에서도 잘 맞추는지 확인해야 함.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모델 학습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413867"/>
            <a:ext cx="8305800" cy="2254746"/>
          </a:xfrm>
          <a:prstGeom prst="roundRect">
            <a:avLst>
              <a:gd name="adj" fmla="val 5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585317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랜덤포레스트 모델 생성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0550" y="1821507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RandomForestClassifier(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90550" y="2051893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n_estimators=100,    # 나무 100개 사용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0550" y="2282279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random_state=42      # 재현성을 위한 시드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0550" y="2512665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90550" y="2800201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학습!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0550" y="3036391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model.fit(X_train, y_train)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90550" y="3323927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print("모델 학습 완료!")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3801963"/>
            <a:ext cx="2667000" cy="887611"/>
          </a:xfrm>
          <a:prstGeom prst="roundRect">
            <a:avLst>
              <a:gd name="adj" fmla="val 128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954363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n_estimators=100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217194"/>
            <a:ext cx="24094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트리(나무) 100개가 투표해서 결정. 나무가 많을수록 정확하지만 느려짐.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38500" y="3801963"/>
            <a:ext cx="2667000" cy="887611"/>
          </a:xfrm>
          <a:prstGeom prst="roundRect">
            <a:avLst>
              <a:gd name="adj" fmla="val 12877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0900" y="3954363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fit(X_train, y_train)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90900" y="4217194"/>
            <a:ext cx="24094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데이터로 패턴을 배움. "이런 조건이면 생존, 저런 조건이면 사망"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7900" y="3801963"/>
            <a:ext cx="2667000" cy="887611"/>
          </a:xfrm>
          <a:prstGeom prst="roundRect">
            <a:avLst>
              <a:gd name="adj" fmla="val 12877"/>
            </a:avLst>
          </a:prstGeom>
          <a:solidFill>
            <a:srgbClr val="3D2A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0300" y="3954363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random_state=42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0300" y="4217194"/>
            <a:ext cx="24094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숫자면 항상 같은 결과. 실험 재현성을 위해 사용.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예측 및 평가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217563"/>
            <a:ext cx="8305800" cy="1563588"/>
          </a:xfrm>
          <a:prstGeom prst="roundRect">
            <a:avLst>
              <a:gd name="adj" fmla="val 73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38901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테스트 데이터로 예측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0550" y="1625203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y_pred = model.predict(X_test)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90550" y="1912739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정확도 계산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0550" y="2148929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accuracy_score(y_test, y_pred)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0550" y="2436465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print(f"모델 정확도: {accuracy:.2%}")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2914501"/>
            <a:ext cx="8305800" cy="1264741"/>
          </a:xfrm>
          <a:prstGeom prst="roundRect">
            <a:avLst>
              <a:gd name="adj" fmla="val 9037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8645" y="3162151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출력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8645" y="3451622"/>
            <a:ext cx="796671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정확도: 약 81%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9100" y="4312593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388" y="4312593"/>
            <a:ext cx="0" cy="57328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1975" y="4426893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1975" y="4624983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학습된 모델로 예측 수행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238500" y="4312593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52788" y="4312593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81375" y="4426893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accuracy_score()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1375" y="4624983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맞힌 개수 / 전체 개수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57900" y="4312593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72188" y="4312593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00775" y="4426893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81%의 의미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0775" y="4624983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143명 중 116명 정확히 예측!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어떤 요소가 중요할까?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746349"/>
            <a:ext cx="3848100" cy="1923306"/>
          </a:xfrm>
          <a:prstGeom prst="roundRect">
            <a:avLst>
              <a:gd name="adj" fmla="val 59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898749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피처 중요도 시각화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134939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= model.feature_importances_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422475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plt.figure(figsize=(10, 5))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652861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plt.barh(features, importance)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883247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plt.xlabel('중요도')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113633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plt.title('피처 중요도')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3344019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plt.show()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9100" y="3783955"/>
            <a:ext cx="384810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3388" y="3783955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1975" y="3898255"/>
            <a:ext cx="3662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해석해보기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1975" y="4096345"/>
            <a:ext cx="3662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피처가 가장 중요한가요? 역사적 사실과 일치하나요?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495800" y="2025104"/>
            <a:ext cx="4229100" cy="2053382"/>
          </a:xfrm>
          <a:prstGeom prst="roundRect">
            <a:avLst>
              <a:gd name="adj" fmla="val 55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47819" y="2215604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86300" y="2556421"/>
            <a:ext cx="4857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76850" y="2541240"/>
            <a:ext cx="3257550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76850" y="2541240"/>
            <a:ext cx="2768798" cy="190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86300" y="2842171"/>
            <a:ext cx="4857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76850" y="2826990"/>
            <a:ext cx="3257550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6850" y="2826990"/>
            <a:ext cx="1791593" cy="190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86300" y="3127921"/>
            <a:ext cx="4857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76850" y="3112740"/>
            <a:ext cx="3257550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6850" y="3112740"/>
            <a:ext cx="1628775" cy="190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86300" y="3413671"/>
            <a:ext cx="4857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Pclass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850" y="3398490"/>
            <a:ext cx="3257550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76850" y="3398490"/>
            <a:ext cx="1140023" cy="190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47819" y="374139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200"/>
              </a:spcBef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"여성과 어린이 먼저" 규칙이 데이터에서도 보임!</a:t>
            </a:r>
            <a:endParaRPr lang="en-US" sz="8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2 - 지도학습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손글씨 숫자 인식 (MNIST)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90973"/>
            <a:ext cx="4000500" cy="1260872"/>
          </a:xfrm>
          <a:prstGeom prst="roundRect">
            <a:avLst>
              <a:gd name="adj" fmla="val 9065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590973"/>
            <a:ext cx="0" cy="1260872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819573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7143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손으로 쓴 숫자 이미지를 보고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409974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0~9 중 어떤 숫자인지 맞추기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" y="3004245"/>
            <a:ext cx="4000500" cy="1546324"/>
          </a:xfrm>
          <a:prstGeom prst="roundRect">
            <a:avLst>
              <a:gd name="adj" fmla="val 73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194745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데이터셋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495675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크기: 28 x 28 픽셀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726061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데이터: 60,000장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956447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데이터: 10,000장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4186833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피처 개수: 784개 (28x28)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24400" y="1897410"/>
            <a:ext cx="40805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= 숫자 배열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2184946"/>
            <a:ext cx="4000500" cy="1295400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857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245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10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198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63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51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716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04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669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57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622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01000" y="23754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57567" y="24516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19800" y="28707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76367" y="29469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5100" y="28707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71667" y="29469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10400" y="28707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66967" y="29469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24400" y="3632746"/>
            <a:ext cx="4000500" cy="611386"/>
          </a:xfrm>
          <a:prstGeom prst="roundRect">
            <a:avLst>
              <a:gd name="adj" fmla="val 1246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738688" y="3632746"/>
            <a:ext cx="0" cy="6113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86325" y="3766096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6325" y="3964186"/>
            <a:ext cx="37793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픽셀의 밝기값(0~255)이 피처가 됨. 28x28 = 784개 숫자!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라이브러리 불러오기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341537"/>
            <a:ext cx="8305800" cy="2694682"/>
          </a:xfrm>
          <a:prstGeom prst="roundRect">
            <a:avLst>
              <a:gd name="adj" fmla="val 42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532037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한글 폰트 설정 (Step 0과 동일)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787277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(타이타닉과 동일한 코드)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2112913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라이브러리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368153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numpy as np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693789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sklearn.datasets import fetch_openml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2924175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sklearn.model_selection import train_test_split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154561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sklearn.ensemble import RandomForestClassifier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384947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sklearn.metrics import accuracy_score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672483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print("라이브러리 로드 완료!")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19100" y="4188619"/>
            <a:ext cx="40767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3388" y="4188619"/>
            <a:ext cx="0" cy="57328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1975" y="4302919"/>
            <a:ext cx="3895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fetch_openml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1975" y="4501009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인터넷에서 유명 데이터셋 다운로드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48200" y="4188619"/>
            <a:ext cx="40767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2488" y="4188619"/>
            <a:ext cx="0" cy="57328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91075" y="4302919"/>
            <a:ext cx="3895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타이타닉과 다른 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1075" y="4501009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대신 numpy 사용 (이미지는 배열!)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데이터 다운로드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274862"/>
            <a:ext cx="8305800" cy="1788170"/>
          </a:xfrm>
          <a:prstGeom prst="roundRect">
            <a:avLst>
              <a:gd name="adj" fmla="val 63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446312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print("데이터 다운로드 중... (1-2분 소요)")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90550" y="1714798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MNIST 데이터셋 다운로드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0550" y="1970038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= fetch_openml('mnist_784', version=1, as_frame=False)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0550" y="2200424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 y = mnist.data, mnist.target.astype('int')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0550" y="2487960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print(f"이미지 개수: {X.shape[0]:,}개")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90550" y="2718346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print(f"피처 개수: {X.shape[1]}개 (28x28)")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19100" y="3196382"/>
            <a:ext cx="8305800" cy="925562"/>
          </a:xfrm>
          <a:prstGeom prst="roundRect">
            <a:avLst>
              <a:gd name="adj" fmla="val 1234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348782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예상 출력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358497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개수: 70,000개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" y="379630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피처 개수: 784개 (28x28)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19100" y="4255294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3388" y="4255294"/>
            <a:ext cx="0" cy="57328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1975" y="4369594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mnist_784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1975" y="4567684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784 = 28 x 28. 이미지를 1차원으로 펼친 것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38500" y="4255294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52788" y="4255294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81375" y="4369594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astype('int')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1375" y="4567684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정답(0~9)을 정수형으로 변환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57900" y="4255294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2188" y="4255294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00775" y="4369594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0775" y="4567684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60,000 + 테스트 10,000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데이터 시각화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258788"/>
            <a:ext cx="8305800" cy="2172742"/>
          </a:xfrm>
          <a:prstGeom prst="roundRect">
            <a:avLst>
              <a:gd name="adj" fmla="val 52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411188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샘플 이미지 10개 출력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64737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fig, axes = plt.subplots(1, 10, figsize=(15, 2))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91586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i, ax in enumerate(axes):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14625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= X[i].reshape(28, 28)  # 784 - 28x28로 변환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37663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ax.imshow(image, cmap='gray')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260702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ax.set_title(f'정답: {y[i]}')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283740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ax.axis('off')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1500" y="310589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plt.show()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356488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388" y="3564880"/>
            <a:ext cx="0" cy="57328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1975" y="367918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reshape(28, 28)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1975" y="387727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784개 숫자를 28x28 이미지로 변환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238500" y="356488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52788" y="3564880"/>
            <a:ext cx="0" cy="57328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81375" y="367918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imshow(cmap='gray')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1375" y="387727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배열을 흑백 이미지로 출력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57900" y="3564880"/>
            <a:ext cx="26670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72188" y="3564880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00775" y="3679180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axis('off')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0775" y="3877270"/>
            <a:ext cx="2458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축(x, y 눈금) 숨기기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19100" y="4271516"/>
            <a:ext cx="830580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33388" y="4271516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1975" y="4385816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1975" y="4583906"/>
            <a:ext cx="8209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이미지도 결국 숫자 배열! reshape로 형태만 바꾸면 이미지로 볼 수 있음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학습 및 평가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337667"/>
            <a:ext cx="8305800" cy="887462"/>
          </a:xfrm>
          <a:prstGeom prst="roundRect">
            <a:avLst>
              <a:gd name="adj" fmla="val 128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471017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속도를 위해 10,000개만 사용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2450" y="1688157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X_small, y_small = X[:10000], y[:10000]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918543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X_train, X_test, y_train, y_test = train_test_split(X_small, y_small, test_size=0.2)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320379"/>
            <a:ext cx="8305800" cy="1603474"/>
          </a:xfrm>
          <a:prstGeom prst="roundRect">
            <a:avLst>
              <a:gd name="adj" fmla="val 7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2453729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모델 학습 (1-2분 소요)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2450" y="2670870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RandomForestClassifier(n_estimators=100, n_jobs=-1)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52450" y="2901255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model.fit(X_train, y_train)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3169741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정확도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450" y="3386882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model.score(X_test, y_test)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52450" y="3617268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print(f"정확도: {accuracy:.2%}")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19100" y="4019104"/>
            <a:ext cx="4057650" cy="746671"/>
          </a:xfrm>
          <a:prstGeom prst="roundRect">
            <a:avLst>
              <a:gd name="adj" fmla="val 1530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110" y="4133404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110" y="4331494"/>
            <a:ext cx="39056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7250" y="4019104"/>
            <a:ext cx="4057650" cy="746671"/>
          </a:xfrm>
          <a:prstGeom prst="roundRect">
            <a:avLst>
              <a:gd name="adj" fmla="val 15308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3260" y="4133404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CNN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43260" y="4331494"/>
            <a:ext cx="39056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~99.7%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예측 결과 시각화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314004"/>
            <a:ext cx="8305800" cy="1860352"/>
          </a:xfrm>
          <a:prstGeom prst="roundRect">
            <a:avLst>
              <a:gd name="adj" fmla="val 61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447354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y_pred = model.predict(X_test)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52450" y="1677739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fig, axes = plt.subplots(2, 5, figsize=(15, 6))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946225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i, ax in enumerate(axes.flat):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2176611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ax.imshow(X_test[i].reshape(28, 28), cmap='gray')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52450" y="2406997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= 'green' if y_pred[i] == y_test[i] else 'red'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2637383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ax.set_title(f'예측:{y_pred[i]} 정답:{y_test[i]}', color=color)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52450" y="2867769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plt.show()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9100" y="3288655"/>
            <a:ext cx="8305800" cy="1500932"/>
          </a:xfrm>
          <a:prstGeom prst="roundRect">
            <a:avLst>
              <a:gd name="adj" fmla="val 76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" y="344105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출력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851100" y="3728591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24254" y="3806726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45436" y="4242941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예측:5 정답:5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69940" y="3728591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3094" y="3806726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4276" y="4242941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예측:0 정답:0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88780" y="3728591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61934" y="3806726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83116" y="4242941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예측:9 정답:4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07620" y="3728591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80774" y="3806726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01956" y="4242941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예측:1 정답:1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26460" y="3728591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99614" y="3806726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20795" y="4242941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예측:9 정답:9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1490" y="4490591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초록 = 정답, 빨강 = 오답</a:t>
            </a:r>
            <a:endParaRPr lang="en-US" sz="8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- 도전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손글씨로 테스트하기!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561356"/>
            <a:ext cx="4038600" cy="2064544"/>
          </a:xfrm>
          <a:prstGeom prst="roundRect">
            <a:avLst>
              <a:gd name="adj" fmla="val 553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580406"/>
            <a:ext cx="40386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09600" y="1789956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1: 캔버스에 그리기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117527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마우스로 직접 숫자를 그려서 테스트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429917"/>
            <a:ext cx="3657600" cy="744587"/>
          </a:xfrm>
          <a:prstGeom prst="roundRect">
            <a:avLst>
              <a:gd name="adj" fmla="val 1023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254421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google.colab import output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23900" y="2728913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= output.eval_js(...)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23900" y="2913608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HTML Canvas로 그림 입력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9600" y="3288804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안정적, 전처리 쉬움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86300" y="1561356"/>
            <a:ext cx="4038600" cy="2064544"/>
          </a:xfrm>
          <a:prstGeom prst="roundRect">
            <a:avLst>
              <a:gd name="adj" fmla="val 5536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6300" y="1580406"/>
            <a:ext cx="4038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76800" y="1789956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2: 웹캠으로 촬영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800" y="2117527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종이에 쓴 숫자를 카메라로 인식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6800" y="2429917"/>
            <a:ext cx="3657600" cy="744587"/>
          </a:xfrm>
          <a:prstGeom prst="roundRect">
            <a:avLst>
              <a:gd name="adj" fmla="val 1023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1100" y="254421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IPython.display import Javascript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991100" y="2728913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= Javascript('''웹캠 코드''')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991100" y="2913608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웹캠 캡처 후 전처리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3288804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실제 손글씨 테스트, 더 재밌음!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19100" y="4379714"/>
            <a:ext cx="830580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3388" y="4379714"/>
            <a:ext cx="0" cy="57328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1975" y="4494014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노트북에서 직접 해보세요!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1975" y="4692104"/>
            <a:ext cx="8209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노트북의 "도전 과제" 섹션에 두 방법 모두 포함되어 있습니다.</a:t>
            </a:r>
            <a:endParaRPr lang="en-US" sz="8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3 - 비지도학습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고객 세분화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706166"/>
            <a:ext cx="4000500" cy="1260872"/>
          </a:xfrm>
          <a:prstGeom prst="roundRect">
            <a:avLst>
              <a:gd name="adj" fmla="val 9065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706166"/>
            <a:ext cx="0" cy="12608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934766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62336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고객 데이터를 분석해서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525167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없이 고객 그룹을 자동 분류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" y="3119438"/>
            <a:ext cx="4000500" cy="1315938"/>
          </a:xfrm>
          <a:prstGeom prst="roundRect">
            <a:avLst>
              <a:gd name="adj" fmla="val 8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309938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사용할 피처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610868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- 나이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841254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Income - 연소득 (천 달러)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4071640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Score - 지출 점수 (1~100)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24400" y="1753642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지도학습과의 차이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2054572"/>
            <a:ext cx="4000500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3450" y="2054572"/>
            <a:ext cx="0" cy="72762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14900" y="2206972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 (타이타닉)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4900" y="2469803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정답(생존/사망)이 있음 - 분류 문제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4400" y="2896493"/>
            <a:ext cx="4000500" cy="727621"/>
          </a:xfrm>
          <a:prstGeom prst="roundRect">
            <a:avLst>
              <a:gd name="adj" fmla="val 15709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43450" y="2896493"/>
            <a:ext cx="0" cy="72762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14900" y="3048893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 (K-Means)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4900" y="3311723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없음 - 비슷한 고객끼리 묶기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400" y="3776514"/>
            <a:ext cx="4000500" cy="611386"/>
          </a:xfrm>
          <a:prstGeom prst="roundRect">
            <a:avLst>
              <a:gd name="adj" fmla="val 1246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38688" y="3776514"/>
            <a:ext cx="0" cy="6113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86325" y="3909864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활용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6325" y="4107954"/>
            <a:ext cx="37793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타겟팅, VIP 관리, 맞춤 프로모션</a:t>
            </a:r>
            <a:endParaRPr lang="en-US" sz="8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1-2: 데이터 준비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658392"/>
            <a:ext cx="8305800" cy="1001911"/>
          </a:xfrm>
          <a:prstGeom prst="roundRect">
            <a:avLst>
              <a:gd name="adj" fmla="val 114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7269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라이브러리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400" y="198983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pandas as pd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18792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matplotlib.pyplot as plt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38601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sklearn.cluster import KMeans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2755553"/>
            <a:ext cx="8305800" cy="1257151"/>
          </a:xfrm>
          <a:prstGeom prst="roundRect">
            <a:avLst>
              <a:gd name="adj" fmla="val 90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86985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데이터 다운로드 (Mall Customer 데이터셋)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308699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= 'https://.../Mall_Customers.csv'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328508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= pd.read_csv(url)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352127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연소득과 지출점수만 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" y="3738414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df[['Annual Income (k$)', 'Spending Score (1-100)']]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100" y="4107954"/>
            <a:ext cx="8305800" cy="337096"/>
          </a:xfrm>
          <a:prstGeom prst="roundRect">
            <a:avLst>
              <a:gd name="adj" fmla="val 2260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3388" y="4107954"/>
            <a:ext cx="0" cy="33709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2925" y="4203204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비지도학습: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y(정답) 없이 X만으로 그룹을 찾음!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K-Means 군집화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193899"/>
            <a:ext cx="8305800" cy="1506438"/>
          </a:xfrm>
          <a:prstGeom prst="roundRect">
            <a:avLst>
              <a:gd name="adj" fmla="val 7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46299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K-Means 모델 생성 (5개 그룹으로 분류)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58248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= KMeans(n_clusters=5, random_state=42)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870025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학습 및 라벨 예측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10621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= kmeans.fit_predict(X)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37470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print(f"각 고객의 그룹: {labels[:10]}...")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2814638"/>
            <a:ext cx="4076700" cy="662732"/>
          </a:xfrm>
          <a:prstGeom prst="roundRect">
            <a:avLst>
              <a:gd name="adj" fmla="val 17247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294798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n_clusters=5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319742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그룹으로 나눠달라는 뜻. K값은 직접 정해야 함!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48200" y="2814638"/>
            <a:ext cx="4076700" cy="662732"/>
          </a:xfrm>
          <a:prstGeom prst="roundRect">
            <a:avLst>
              <a:gd name="adj" fmla="val 172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550" y="294798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fit_predict(X)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81550" y="319742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+ 각 데이터가 어느 그룹인지 반환 (0~4)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19100" y="3591669"/>
            <a:ext cx="8305800" cy="866626"/>
          </a:xfrm>
          <a:prstGeom prst="roundRect">
            <a:avLst>
              <a:gd name="adj" fmla="val 1318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2450" y="3725019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예상 출력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2450" y="3942159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고객의 그룹: [3, 1, 3, 1, 0, 0, 4, 4, 0, 0]...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2450" y="4178350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고객이 0~4번 그룹 중 하나에 배정됨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19100" y="4572595"/>
            <a:ext cx="8305800" cy="337096"/>
          </a:xfrm>
          <a:prstGeom prst="roundRect">
            <a:avLst>
              <a:gd name="adj" fmla="val 2260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3388" y="4572595"/>
            <a:ext cx="0" cy="33709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2925" y="4667845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지도학습과 다른 점: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fit(X, y) 대신 fit_predict(X) - 정답 없이 학습!</a:t>
            </a:r>
            <a:endParaRPr lang="en-US" sz="8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-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결과 시각화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" y="1733699"/>
            <a:ext cx="4057650" cy="2521893"/>
          </a:xfrm>
          <a:prstGeom prst="roundRect">
            <a:avLst>
              <a:gd name="adj" fmla="val 45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867049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산점도로 시각화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2450" y="2103239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plt.figure(figsize=(10, 6))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2450" y="2301329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plt.scatter(X.iloc[:, 0], X.iloc[:, 1],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49942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c=labels, cmap='viridis')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2450" y="273561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중심점 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2450" y="293370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= kmeans.cluster_centers_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313179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plt.scatter(centers[:, 0], centers[:, 1],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2450" y="332988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c='red', marker='X', s=200)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450" y="356607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plt.xlabel('연소득 (천 달러)')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2450" y="376416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plt.ylabel('지출 점수')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2450" y="396225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plt.show()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1587847"/>
            <a:ext cx="4057650" cy="247650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2122" y="1740247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 (5개 그룹)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31359" y="201453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25379" y="252888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고소득 고지출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57950" y="201453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51970" y="252888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고소득 저지출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84541" y="201453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79779" y="2528888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그룹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3784" y="281463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77804" y="332898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저소득 고지출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10375" y="281463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04395" y="332898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저소득 저지출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2122" y="3614738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각 그룹의 중심점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7250" y="4178647"/>
            <a:ext cx="4057650" cy="337096"/>
          </a:xfrm>
          <a:prstGeom prst="roundRect">
            <a:avLst>
              <a:gd name="adj" fmla="val 2260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81538" y="4178647"/>
            <a:ext cx="0" cy="33709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91075" y="4273897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활용: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그룹별 맞춤 전략 수립 가능!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3672</Words>
  <Application>Microsoft Macintosh PowerPoint</Application>
  <PresentationFormat>화면 슬라이드 쇼(16:9)</PresentationFormat>
  <Paragraphs>698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머신러닝 입문 - 4시간 실습 워크숍</dc:title>
  <dc:subject>PptxGenJS Presentation</dc:subject>
  <dc:creator>ML Workshop</dc:creator>
  <cp:lastModifiedBy>Henry Bae</cp:lastModifiedBy>
  <cp:revision>4</cp:revision>
  <dcterms:created xsi:type="dcterms:W3CDTF">2026-01-17T15:49:11Z</dcterms:created>
  <dcterms:modified xsi:type="dcterms:W3CDTF">2026-01-18T14:01:29Z</dcterms:modified>
</cp:coreProperties>
</file>